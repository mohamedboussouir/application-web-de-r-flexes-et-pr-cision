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oral pour l'Axe 3 :</a:t>
            </a:r>
          </a:p>
          <a:p>
            <a:r>
              <a:t>Pour bien maîtriser les prototypes, il faut absolument distinguer 3 notions souvent confondues :</a:t>
            </a:r>
          </a:p>
          <a:p>
            <a:r>
              <a:t>1. [[Prototype]] : c'est le lien interne et invisible présent dans TOUS les objets, qui pointe vers le parent. On le lit avec Object.getPrototypeOf(obj).</a:t>
            </a:r>
          </a:p>
          <a:p>
            <a:r>
              <a:t>2. .prototype : c'est une propriété réservée aux constructeurs et classes. C'est le moule des futures instances créées avec 'new'.</a:t>
            </a:r>
          </a:p>
          <a:p>
            <a:r>
              <a:t>3. __proto__ : c'est un accesseur historique créé par les navigateurs. Il est aujourd'hui totalement déprécié.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2FE"/>
                </a:solidFill>
                <a:latin typeface="Arial"/>
              </a:defRPr>
            </a:pPr>
            <a:r>
              <a:t>●  AXE 3 • RIGUEUR TERMINOLOGIQUE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1F5F9"/>
                </a:solidFill>
                <a:latin typeface="Arial"/>
              </a:defRPr>
            </a:pPr>
            <a:r>
              <a:t>Vocabulaire à Distinguer : Les 3 Notions Clés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53312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Ne plus jamais confondre le lien interne, le moule du constructeur et l'accesseur historique.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383280" cy="2560320"/>
          </a:xfrm>
          <a:prstGeom prst="roundRect">
            <a:avLst/>
          </a:prstGeom>
          <a:solidFill>
            <a:srgbClr val="141A2B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3017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0F2FE"/>
                </a:solidFill>
                <a:latin typeface="Arial"/>
              </a:defRPr>
            </a:pPr>
            <a:r>
              <a:t>1. [[Prototype]]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•  Pointeur interne secret du moteur JS.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•  Existe dans TOUS les objets.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•  Relie physiquement l'objet à son parent.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•  Accès officiel et standard :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•  Object.getPrototypeOf(obj)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011680"/>
            <a:ext cx="3383280" cy="2560320"/>
          </a:xfrm>
          <a:prstGeom prst="roundRect">
            <a:avLst/>
          </a:prstGeom>
          <a:solidFill>
            <a:srgbClr val="141A2B"/>
          </a:solidFill>
          <a:ln w="19050">
            <a:solidFill>
              <a:srgbClr val="9B51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194560"/>
            <a:ext cx="3017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9B51E0"/>
                </a:solidFill>
                <a:latin typeface="Arial"/>
              </a:defRPr>
            </a:pPr>
            <a:r>
              <a:t>2. Fonction.prototype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•  Objet ordinaire en mémoire.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•  Existe UNIQUEMENT sur constructeurs &amp; classes.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•  Sert de 'moule' pour les futures instances.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•  Devient le [[Prototype]] créé par 'new'.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•  User.prototype.sayHi = ...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011680"/>
            <a:ext cx="3383280" cy="2560320"/>
          </a:xfrm>
          <a:prstGeom prst="roundRect">
            <a:avLst/>
          </a:prstGeom>
          <a:solidFill>
            <a:srgbClr val="141A2B"/>
          </a:solidFill>
          <a:ln w="19050">
            <a:solidFill>
              <a:srgbClr val="FF4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2194560"/>
            <a:ext cx="3017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F4B6E"/>
                </a:solidFill>
                <a:latin typeface="Arial"/>
              </a:defRPr>
            </a:pPr>
            <a:r>
              <a:t>3. __proto__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•  Accesseur historique (getter / setter).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•  Hérité depuis Object.prototype.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•  Exposé jadis par les navigateurs.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•  Officiellement DÉPRÉCIÉ aujourd'hui.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•  À proscrire dans du code moderne.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754880"/>
            <a:ext cx="10698480" cy="1645920"/>
          </a:xfrm>
          <a:prstGeom prst="roundRect">
            <a:avLst/>
          </a:prstGeom>
          <a:solidFill>
            <a:srgbClr val="06090F"/>
          </a:solidFill>
          <a:ln w="12700">
            <a:solidFill>
              <a:srgbClr val="26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919472"/>
            <a:ext cx="10241280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00F2FE"/>
                </a:solidFill>
                <a:latin typeface="Consolas"/>
              </a:defRPr>
            </a:pPr>
            <a:r>
              <a:t>function User(name) { this.name = name; }</a:t>
            </a:r>
          </a:p>
          <a:p>
            <a:pPr>
              <a:defRPr sz="1150">
                <a:solidFill>
                  <a:srgbClr val="00F2FE"/>
                </a:solidFill>
                <a:latin typeface="Consolas"/>
              </a:defRPr>
            </a:pPr>
            <a:r>
              <a:t>User.prototype.sayHi = function() {}; // 1. .prototype existe uniquement sur le constructeur</a:t>
            </a:r>
          </a:p>
          <a:p>
            <a:pPr>
              <a:defRPr sz="1150">
                <a:solidFill>
                  <a:srgbClr val="00F2FE"/>
                </a:solidFill>
                <a:latin typeface="Consolas"/>
              </a:defRPr>
            </a:pPr>
            <a:r>
              <a:t>const u1 = new User("Mohamed");</a:t>
            </a:r>
          </a:p>
          <a:p>
            <a:pPr>
              <a:defRPr sz="1150">
                <a:solidFill>
                  <a:srgbClr val="F1F5F9"/>
                </a:solidFill>
                <a:latin typeface="Consolas"/>
              </a:defRPr>
            </a:pPr>
          </a:p>
          <a:p>
            <a:pPr>
              <a:defRPr sz="1150">
                <a:solidFill>
                  <a:srgbClr val="94A3B8"/>
                </a:solidFill>
                <a:latin typeface="Consolas"/>
              </a:defRPr>
            </a:pPr>
            <a:r>
              <a:t>// 2. [[Prototype]] de l'instance pointe vers User.prototype :</a:t>
            </a:r>
          </a:p>
          <a:p>
            <a:pPr>
              <a:defRPr sz="1150">
                <a:solidFill>
                  <a:srgbClr val="00F2FE"/>
                </a:solidFill>
                <a:latin typeface="Consolas"/>
              </a:defRPr>
            </a:pPr>
            <a:r>
              <a:t>console.log(Object.getPrototypeOf(u1) === User.prototype); // true</a:t>
            </a:r>
          </a:p>
          <a:p>
            <a:pPr>
              <a:defRPr sz="1150">
                <a:solidFill>
                  <a:srgbClr val="00F5A0"/>
                </a:solidFill>
                <a:latin typeface="Consolas"/>
              </a:defRPr>
            </a:pPr>
            <a:r>
              <a:t>console.log(u1.prototype);                                // undefined (l'instance n'en a pas !)</a:t>
            </a:r>
          </a:p>
          <a:p>
            <a:pPr>
              <a:defRPr sz="1150">
                <a:solidFill>
                  <a:srgbClr val="F1F5F9"/>
                </a:solidFill>
                <a:latin typeface="Consolas"/>
              </a:defRPr>
            </a:pPr>
          </a:p>
          <a:p>
            <a:pPr>
              <a:defRPr sz="1150">
                <a:solidFill>
                  <a:srgbClr val="94A3B8"/>
                </a:solidFill>
                <a:latin typeface="Consolas"/>
              </a:defRPr>
            </a:pPr>
            <a:r>
              <a:t>// 3. __proto__ est l'ancien chemin déprécié pointant vers le même lien :</a:t>
            </a:r>
          </a:p>
          <a:p>
            <a:pPr>
              <a:defRPr sz="1150">
                <a:solidFill>
                  <a:srgbClr val="00F2FE"/>
                </a:solidFill>
                <a:latin typeface="Consolas"/>
              </a:defRPr>
            </a:pPr>
            <a:r>
              <a:t>console.log(u1.__proto__ === User.prototype);              // true (À éviter en production)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